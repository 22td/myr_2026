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embeddedFontLst>
    <p:embeddedFont>
      <p:font typeface="Hubot Sans ExtraLight"/>
      <p:regular r:id="rId201314"/>
    </p:embeddedFont>
    <p:embeddedFont>
      <p:font typeface="Hubot Sans"/>
      <p:regular r:id="rId201315"/>
    </p:embeddedFont>
    <p:embeddedFont>
      <p:font typeface="Hubot Sans Medium"/>
      <p:regular r:id="rId201316"/>
    </p:embeddedFont>
    <p:embeddedFont>
      <p:font typeface="Hubot Sans SemiBold"/>
      <p:regular r:id="rId201317"/>
    </p:embeddedFont>
    <p:embeddedFont>
      <p:font typeface="Hubot Sans Bold"/>
      <p:regular r:id="rId201318"/>
    </p:embeddedFont>
    <p:embeddedFont>
      <p:font typeface="Hubot Sans ExtraBold"/>
      <p:regular r:id="rId201319"/>
    </p:embeddedFont>
    <p:embeddedFont>
      <p:font typeface="Hubot Sans Black"/>
      <p:regular r:id="rId201320"/>
    </p:embeddedFont>
    <p:embeddedFont>
      <p:font typeface="Hubot Sans Light"/>
      <p:regular r:id="rId201321"/>
    </p:embeddedFont>
    <p:embeddedFont>
      <p:font typeface="Roboto Condensed Thin"/>
      <p:regular r:id="rId201322"/>
    </p:embeddedFont>
    <p:embeddedFont>
      <p:font typeface="Roboto Condensed ExtraLight"/>
      <p:regular r:id="rId201323"/>
    </p:embeddedFont>
    <p:embeddedFont>
      <p:font typeface="Roboto Condensed Light"/>
      <p:regular r:id="rId201324"/>
    </p:embeddedFont>
    <p:embeddedFont>
      <p:font typeface="Roboto Condensed"/>
      <p:regular r:id="rId201325"/>
    </p:embeddedFont>
    <p:embeddedFont>
      <p:font typeface="Roboto Condensed Medium"/>
      <p:regular r:id="rId201326"/>
    </p:embeddedFont>
    <p:embeddedFont>
      <p:font typeface="Roboto Condensed SemiBold"/>
      <p:regular r:id="rId201327"/>
    </p:embeddedFont>
    <p:embeddedFont>
      <p:font typeface="Roboto Condensed Bold"/>
      <p:regular r:id="rId201328"/>
    </p:embeddedFont>
    <p:embeddedFont>
      <p:font typeface="Roboto Condensed ExtraBold"/>
      <p:regular r:id="rId201329"/>
    </p:embeddedFont>
    <p:embeddedFont>
      <p:font typeface="Roboto Condensed Black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48" y="0"/>
            <a:ext cx="6095848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983258"/>
            <a:ext cx="2057944" cy="355203"/>
          </a:xfrm>
          <a:prstGeom prst="roundRect">
            <a:avLst>
              <a:gd name="adj" fmla="val 6386"/>
            </a:avLst>
          </a:prstGeom>
          <a:solidFill>
            <a:srgbClr val="E7E7E4"/>
          </a:solidFill>
          <a:ln/>
        </p:spPr>
      </p:sp>
      <p:sp>
        <p:nvSpPr>
          <p:cNvPr id="4" name="Text 1"/>
          <p:cNvSpPr/>
          <p:nvPr/>
        </p:nvSpPr>
        <p:spPr>
          <a:xfrm>
            <a:off x="774879" y="1039912"/>
            <a:ext cx="2440720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PROGRAMME IDENTIFICATION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1414066"/>
            <a:ext cx="4772898" cy="2362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EVOLUTION &amp; GROWTH: SUSTAINABILITY OF PPHSN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661475" y="4060130"/>
            <a:ext cx="477289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PPHSN faces friction in data sharing, funding sustainability, member engagement, and outbreak manual progress. Root causes: no data-sharing agreements and no dedicated funding. Mitigation underway — increased allied member involvement, core funding secured, and a strategic implementation plan in development.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492448"/>
            <a:ext cx="1397362" cy="355203"/>
          </a:xfrm>
          <a:prstGeom prst="roundRect">
            <a:avLst>
              <a:gd name="adj" fmla="val 6386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1e1e1a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774879" y="1549102"/>
            <a:ext cx="1780138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1E1E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LESSONS LEARNED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923256"/>
            <a:ext cx="902997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PPHSN IS EVERYONE'S BUSINESS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797373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SPRP collaborative approach revealed that siloed ownership limits progress. When PHD teams actively engage with service arms they support, PPHSN outcomes improve.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25350" y="3614837"/>
            <a:ext cx="5476043" cy="1750616"/>
          </a:xfrm>
          <a:prstGeom prst="roundRect">
            <a:avLst>
              <a:gd name="adj" fmla="val 1620"/>
            </a:avLst>
          </a:prstGeom>
          <a:solidFill>
            <a:srgbClr val="1E1E1A"/>
          </a:solidFill>
          <a:ln/>
        </p:spPr>
      </p:sp>
      <p:sp>
        <p:nvSpPr>
          <p:cNvPr id="7" name="Text 5"/>
          <p:cNvSpPr/>
          <p:nvPr/>
        </p:nvSpPr>
        <p:spPr>
          <a:xfrm>
            <a:off x="714357" y="3803848"/>
            <a:ext cx="318325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SYSTEMIC INSIGHT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714357" y="4288135"/>
            <a:ext cx="509802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Increase collaborative work within PHD and allied members to advance PPHSN activities.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32776" y="3803848"/>
            <a:ext cx="3192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ACTIONABLE PIVOT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332776" y="4288135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All PHD teams must take ownership of the service arms they serve or support. PPHSN is not a single-programme responsibility — it is a shared institutional priority.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80628"/>
            <a:ext cx="1253697" cy="203398"/>
          </a:xfrm>
          <a:prstGeom prst="roundRect">
            <a:avLst>
              <a:gd name="adj" fmla="val 7249"/>
            </a:avLst>
          </a:prstGeom>
          <a:solidFill>
            <a:srgbClr val="E7E7E4"/>
          </a:solidFill>
          <a:ln/>
        </p:spPr>
      </p:sp>
      <p:sp>
        <p:nvSpPr>
          <p:cNvPr id="3" name="Text 1"/>
          <p:cNvSpPr/>
          <p:nvPr/>
        </p:nvSpPr>
        <p:spPr>
          <a:xfrm>
            <a:off x="735093" y="617438"/>
            <a:ext cx="1716045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STRATEGIC OPPORTUNITIES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815876"/>
            <a:ext cx="10868745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FOCUS AREA: STRENGTHENING PPHSN THROUGH SHARED OWNERSHIP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3550" y="1703586"/>
            <a:ext cx="7064595" cy="31790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913052" y="1799323"/>
            <a:ext cx="1236273" cy="19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913052" y="2044716"/>
            <a:ext cx="1236273" cy="378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Establish data-sharing agreements and orientation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75376" y="4183624"/>
            <a:ext cx="1243066" cy="19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PHASE 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75376" y="4429017"/>
            <a:ext cx="1243066" cy="378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Develop SOPs and regular allied-member orientation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990150" y="1775548"/>
            <a:ext cx="1236273" cy="19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PHASE 3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990150" y="2020941"/>
            <a:ext cx="1236273" cy="378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Distribute framework and activate resource mobilization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61475" y="4972447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These phases build the foundation for sustained collaboration and resource mobilization across PPHSN.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61475" y="5224363"/>
            <a:ext cx="5394488" cy="1053009"/>
          </a:xfrm>
          <a:prstGeom prst="roundRect">
            <a:avLst>
              <a:gd name="adj" fmla="val 1750"/>
            </a:avLst>
          </a:prstGeom>
          <a:solidFill>
            <a:srgbClr val="E8E8E3"/>
          </a:solidFill>
          <a:ln w="12700">
            <a:solidFill>
              <a:srgbClr val="C8CAC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7004" y="5359896"/>
            <a:ext cx="183947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STRATEGIC BENEFITS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97004" y="5599708"/>
            <a:ext cx="5123429" cy="542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Improved data and information sharing across partners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Higher-quality reporting and communication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Deeper PHD team involvement in PPHSN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35732" y="5224363"/>
            <a:ext cx="5394488" cy="1053009"/>
          </a:xfrm>
          <a:prstGeom prst="roundRect">
            <a:avLst>
              <a:gd name="adj" fmla="val 1750"/>
            </a:avLst>
          </a:prstGeom>
          <a:solidFill>
            <a:srgbClr val="E8E8E3"/>
          </a:solidFill>
          <a:ln w="12700">
            <a:solidFill>
              <a:srgbClr val="C8CAC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71262" y="5359896"/>
            <a:ext cx="176595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CORE PREREQUISITE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271262" y="5599708"/>
            <a:ext cx="5123429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PPHSN is the Pacific's primary regional mechanism for health security. Whole-of-PHD support is essential.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2026-06-24T11:02:23Z</dcterms:created>
  <dcterms:modified xsi:type="dcterms:W3CDTF">2026-06-24T11:02:23Z</dcterms:modified>
</cp:coreProperties>
</file>